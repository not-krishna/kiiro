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6376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navigation — structure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A63"/>
                </a:solidFill>
              </a:rPr>
              <a:t>7 stable items · two open a dropdown on hover/click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7F5F0"/>
          </a:solidFill>
          <a:ln w="9525">
            <a:solidFill>
              <a:srgbClr val="D8D5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2C2C2A"/>
                </a:solidFill>
              </a:rPr>
              <a:t>Weekly Events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46120" y="146304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7F5F0"/>
          </a:solidFill>
          <a:ln w="9525">
            <a:solidFill>
              <a:srgbClr val="D8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14630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2C2A"/>
                </a:solidFill>
              </a:rPr>
              <a:t>About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0" y="146304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E1F5EE"/>
          </a:solidFill>
          <a:ln w="9525">
            <a:solidFill>
              <a:srgbClr val="D8D5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463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6E56"/>
                </a:solidFill>
              </a:rPr>
              <a:t>Artforms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6E56"/>
                </a:solidFill>
              </a:rPr>
              <a:t>Dropdown ▾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41080" y="146304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EEEDFE"/>
          </a:solidFill>
          <a:ln w="9525">
            <a:solidFill>
              <a:srgbClr val="D8D5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1463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34AB7"/>
                </a:solidFill>
              </a:rPr>
              <a:t>Experiences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4108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4AB7"/>
                </a:solidFill>
              </a:rPr>
              <a:t>Dropdown ▾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2468880" cy="868680"/>
          </a:xfrm>
          <a:prstGeom prst="roundRect">
            <a:avLst>
              <a:gd name="adj" fmla="val 8421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D8D5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C2A"/>
                </a:solidFill>
              </a:rPr>
              <a:t>Partnerships &amp; </a:t>
            </a:r>
            <a:r>
              <a:rPr lang="en-US" sz="1400" b="1" dirty="0" smtClean="0">
                <a:solidFill>
                  <a:srgbClr val="2C2C2A"/>
                </a:solidFill>
              </a:rPr>
              <a:t>CSR</a:t>
            </a:r>
          </a:p>
          <a:p>
            <a:pPr algn="ctr"/>
            <a:r>
              <a:rPr lang="en-US" sz="1500" b="1" dirty="0">
                <a:solidFill>
                  <a:srgbClr val="534AB7"/>
                </a:solidFill>
              </a:rPr>
              <a:t>Dropdown </a:t>
            </a:r>
            <a:endParaRPr lang="en-US" sz="1500" b="1" dirty="0">
              <a:solidFill>
                <a:srgbClr val="534AB7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46120" y="265176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7F5F0"/>
          </a:solidFill>
          <a:ln w="9525">
            <a:solidFill>
              <a:srgbClr val="D8D5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C2A"/>
                </a:solidFill>
              </a:rPr>
              <a:t>Artisan Ecosystem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0" y="265176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7F5F0"/>
          </a:solidFill>
          <a:ln w="9525">
            <a:solidFill>
              <a:srgbClr val="D8D5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C2A"/>
                </a:solidFill>
              </a:rPr>
              <a:t>Journal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41080" y="265176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AECE7"/>
          </a:solidFill>
          <a:ln w="12700">
            <a:solidFill>
              <a:srgbClr val="C0602E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864108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602E"/>
                </a:solidFill>
              </a:rPr>
              <a:t>Enquire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4108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602E"/>
                </a:solidFill>
              </a:rPr>
              <a:t>CTA button, not a tab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977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</a:rPr>
              <a:t>Artforms dropdown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9525">
            <a:solidFill>
              <a:srgbClr val="9FE1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343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6E56"/>
                </a:solidFill>
              </a:rPr>
              <a:t>Traditional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31720" y="434340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9525">
            <a:solidFill>
              <a:srgbClr val="9FE1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4343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6E56"/>
                </a:solidFill>
              </a:rPr>
              <a:t>Contemporary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0" y="434340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9525">
            <a:solidFill>
              <a:srgbClr val="9FE1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4343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6E56"/>
                </a:solidFill>
              </a:rPr>
              <a:t>Wellness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3977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4AB7"/>
                </a:solidFill>
              </a:rPr>
              <a:t>Experiences dropdown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0" y="434340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EEEDFE"/>
          </a:solidFill>
          <a:ln w="9525">
            <a:solidFill>
              <a:srgbClr val="CECB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4343400"/>
            <a:ext cx="13716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34AB7"/>
                </a:solidFill>
              </a:rPr>
              <a:t>Schools &amp; colleges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845552" y="434340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EEEDFE"/>
          </a:solidFill>
          <a:ln w="9525">
            <a:solidFill>
              <a:srgbClr val="CECB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45552" y="4343400"/>
            <a:ext cx="13716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34AB7"/>
                </a:solidFill>
              </a:rPr>
              <a:t>Corporates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381744" y="434340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EEEDFE"/>
          </a:solidFill>
          <a:ln w="9525">
            <a:solidFill>
              <a:srgbClr val="CECB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81744" y="4343400"/>
            <a:ext cx="13716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34AB7"/>
                </a:solidFill>
              </a:rPr>
              <a:t>Hospitality &amp; luxury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917936" y="434340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EEEDFE"/>
          </a:solidFill>
          <a:ln w="9525">
            <a:solidFill>
              <a:srgbClr val="CECB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17936" y="4343400"/>
            <a:ext cx="13716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34AB7"/>
                </a:solidFill>
              </a:rPr>
              <a:t>Online experiences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A63"/>
                </a:solidFill>
              </a:rPr>
              <a:t>Note: Corporates (a company booking a workshop) is kept separate from Partnerships &amp; CSR (a funder or CSR head) — same word, two different visitors and two different pitches.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1463040" y="550429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EEEDFE"/>
          </a:solidFill>
          <a:ln w="9525">
            <a:solidFill>
              <a:srgbClr val="CECBF6"/>
            </a:solidFill>
            <a:prstDash val="solid"/>
          </a:ln>
        </p:spPr>
        <p:txBody>
          <a:bodyPr/>
          <a:lstStyle/>
          <a:p>
            <a:pPr algn="ctr"/>
            <a:r>
              <a:rPr lang="en-US" sz="1600" dirty="0" smtClean="0"/>
              <a:t>Capacity Building</a:t>
            </a:r>
            <a:endParaRPr lang="en-IN" sz="1600" dirty="0"/>
          </a:p>
        </p:txBody>
      </p:sp>
      <p:sp>
        <p:nvSpPr>
          <p:cNvPr id="41" name="Shape 29"/>
          <p:cNvSpPr/>
          <p:nvPr/>
        </p:nvSpPr>
        <p:spPr>
          <a:xfrm>
            <a:off x="3131820" y="548640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EEEDFE"/>
          </a:solidFill>
          <a:ln w="9525">
            <a:solidFill>
              <a:srgbClr val="CECBF6"/>
            </a:solidFill>
            <a:prstDash val="solid"/>
          </a:ln>
        </p:spPr>
        <p:txBody>
          <a:bodyPr/>
          <a:lstStyle/>
          <a:p>
            <a:pPr algn="ctr"/>
            <a:r>
              <a:rPr lang="en-US" sz="1600" dirty="0" smtClean="0"/>
              <a:t>Gifting </a:t>
            </a:r>
            <a:endParaRPr lang="en-IN" sz="1600" dirty="0"/>
          </a:p>
        </p:txBody>
      </p:sp>
      <p:sp>
        <p:nvSpPr>
          <p:cNvPr id="42" name="Shape 29"/>
          <p:cNvSpPr/>
          <p:nvPr/>
        </p:nvSpPr>
        <p:spPr>
          <a:xfrm>
            <a:off x="4709160" y="5481099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EEEDFE"/>
          </a:solidFill>
          <a:ln w="9525">
            <a:solidFill>
              <a:srgbClr val="CECBF6"/>
            </a:solidFill>
            <a:prstDash val="solid"/>
          </a:ln>
        </p:spPr>
        <p:txBody>
          <a:bodyPr/>
          <a:lstStyle/>
          <a:p>
            <a:pPr algn="ctr"/>
            <a:r>
              <a:rPr lang="en-US" sz="1600" dirty="0" smtClean="0"/>
              <a:t>Needs Ideation</a:t>
            </a:r>
            <a:endParaRPr lang="en-IN" sz="1600" dirty="0"/>
          </a:p>
        </p:txBody>
      </p:sp>
      <p:sp>
        <p:nvSpPr>
          <p:cNvPr id="43" name="Text 28"/>
          <p:cNvSpPr/>
          <p:nvPr/>
        </p:nvSpPr>
        <p:spPr>
          <a:xfrm>
            <a:off x="182880" y="5529801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534AB7"/>
                </a:solidFill>
              </a:rPr>
              <a:t>Partnerships &amp; CSR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Homepage — desktop section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A63"/>
                </a:solidFill>
              </a:rPr>
              <a:t>Ten sections in scroll order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7F5F0"/>
          </a:solidFill>
          <a:ln w="9525">
            <a:solidFill>
              <a:srgbClr val="D8D5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45336"/>
            <a:ext cx="402336" cy="402336"/>
          </a:xfrm>
          <a:prstGeom prst="ellipse">
            <a:avLst/>
          </a:prstGeom>
          <a:solidFill>
            <a:srgbClr val="C0602E"/>
          </a:solidFill>
          <a:ln w="12700">
            <a:solidFill>
              <a:srgbClr val="C06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45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</a:rPr>
              <a:t>Hero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7647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A63"/>
                </a:solidFill>
              </a:rPr>
              <a:t>Full-bleed video, tagline, dual CTA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276856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7F5F0"/>
          </a:solidFill>
          <a:ln w="9525">
            <a:solidFill>
              <a:srgbClr val="D8D5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496312"/>
            <a:ext cx="402336" cy="402336"/>
          </a:xfrm>
          <a:prstGeom prst="ellipse">
            <a:avLst/>
          </a:prstGeom>
          <a:solidFill>
            <a:srgbClr val="C0602E"/>
          </a:solidFill>
          <a:ln w="12700">
            <a:solidFill>
              <a:srgbClr val="C06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3682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</a:rPr>
              <a:t>Manifesto + impact bar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7157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A63"/>
                </a:solidFill>
              </a:rPr>
              <a:t>Mission line + 5 credibility stats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227832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7F5F0"/>
          </a:solidFill>
          <a:ln w="9525">
            <a:solidFill>
              <a:srgbClr val="D8D5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447288"/>
            <a:ext cx="402336" cy="402336"/>
          </a:xfrm>
          <a:prstGeom prst="ellipse">
            <a:avLst/>
          </a:prstGeom>
          <a:solidFill>
            <a:srgbClr val="C0602E"/>
          </a:solidFill>
          <a:ln w="12700">
            <a:solidFill>
              <a:srgbClr val="C060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3192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</a:rPr>
              <a:t>Artforms showcase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66674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A63"/>
                </a:solidFill>
              </a:rPr>
              <a:t>Traditional / Contemporary / Wellness rows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178808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7F5F0"/>
          </a:solidFill>
          <a:ln w="9525">
            <a:solidFill>
              <a:srgbClr val="D8D5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398264"/>
            <a:ext cx="402336" cy="402336"/>
          </a:xfrm>
          <a:prstGeom prst="ellipse">
            <a:avLst/>
          </a:prstGeom>
          <a:solidFill>
            <a:srgbClr val="C0602E"/>
          </a:solidFill>
          <a:ln w="12700">
            <a:solidFill>
              <a:srgbClr val="C060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398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270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</a:rPr>
              <a:t>Experiences by audience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6177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A63"/>
                </a:solidFill>
              </a:rPr>
              <a:t>Schools, Corporates, Hospitality, Online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129784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7F5F0"/>
          </a:solidFill>
          <a:ln w="9525">
            <a:solidFill>
              <a:srgbClr val="D8D5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5349240"/>
            <a:ext cx="402336" cy="402336"/>
          </a:xfrm>
          <a:prstGeom prst="ellipse">
            <a:avLst/>
          </a:prstGeom>
          <a:solidFill>
            <a:srgbClr val="C0602E"/>
          </a:solidFill>
          <a:ln w="12700">
            <a:solidFill>
              <a:srgbClr val="C060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5349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52212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</a:rPr>
              <a:t>Artisan impact + proof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55686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A63"/>
                </a:solidFill>
              </a:rPr>
              <a:t>Livelihood story, testimonials, partner logos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132588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7F5F0"/>
          </a:solidFill>
          <a:ln w="9525">
            <a:solidFill>
              <a:srgbClr val="D8D5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28232" y="1545336"/>
            <a:ext cx="402336" cy="402336"/>
          </a:xfrm>
          <a:prstGeom prst="ellipse">
            <a:avLst/>
          </a:prstGeom>
          <a:solidFill>
            <a:srgbClr val="C0602E"/>
          </a:solidFill>
          <a:ln w="12700">
            <a:solidFill>
              <a:srgbClr val="C060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1545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494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</a:rPr>
              <a:t>Partnerships &amp; CSR band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49440" y="17647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A63"/>
                </a:solidFill>
              </a:rPr>
              <a:t>Dedicated funder/CSR CTA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2276856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7F5F0"/>
          </a:solidFill>
          <a:ln w="9525">
            <a:solidFill>
              <a:srgbClr val="D8D5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28232" y="2496312"/>
            <a:ext cx="402336" cy="402336"/>
          </a:xfrm>
          <a:prstGeom prst="ellipse">
            <a:avLst/>
          </a:prstGeom>
          <a:solidFill>
            <a:srgbClr val="C0602E"/>
          </a:solidFill>
          <a:ln w="12700">
            <a:solidFill>
              <a:srgbClr val="C060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49440" y="23682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</a:rPr>
              <a:t>Journal teaser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49440" y="27157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A63"/>
                </a:solidFill>
              </a:rPr>
              <a:t>3 recent posts, SEO entry point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63640" y="3227832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7F5F0"/>
          </a:solidFill>
          <a:ln w="9525">
            <a:solidFill>
              <a:srgbClr val="D8D5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28232" y="3447288"/>
            <a:ext cx="402336" cy="402336"/>
          </a:xfrm>
          <a:prstGeom prst="ellipse">
            <a:avLst/>
          </a:prstGeom>
          <a:solidFill>
            <a:srgbClr val="C0602E"/>
          </a:solidFill>
          <a:ln w="12700">
            <a:solidFill>
              <a:srgbClr val="C060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28232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49440" y="33192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</a:rPr>
              <a:t>Enquiry CTA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49440" y="366674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A63"/>
                </a:solidFill>
              </a:rPr>
              <a:t>Corporate vs general enquiry split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63640" y="4178808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7F5F0"/>
          </a:solidFill>
          <a:ln w="9525">
            <a:solidFill>
              <a:srgbClr val="D8D5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28232" y="4398264"/>
            <a:ext cx="402336" cy="402336"/>
          </a:xfrm>
          <a:prstGeom prst="ellipse">
            <a:avLst/>
          </a:prstGeom>
          <a:solidFill>
            <a:srgbClr val="C0602E"/>
          </a:solidFill>
          <a:ln w="12700">
            <a:solidFill>
              <a:srgbClr val="C060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28232" y="4398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949440" y="4270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</a:rPr>
              <a:t>Instagram strip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949440" y="46177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A63"/>
                </a:solidFill>
              </a:rPr>
              <a:t>Live social proof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63640" y="5129784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7F5F0"/>
          </a:solidFill>
          <a:ln w="9525">
            <a:solidFill>
              <a:srgbClr val="D8D5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28232" y="5349240"/>
            <a:ext cx="402336" cy="402336"/>
          </a:xfrm>
          <a:prstGeom prst="ellipse">
            <a:avLst/>
          </a:prstGeom>
          <a:solidFill>
            <a:srgbClr val="C0602E"/>
          </a:solidFill>
          <a:ln w="12700">
            <a:solidFill>
              <a:srgbClr val="C060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28232" y="5349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949440" y="52212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</a:rPr>
              <a:t>Footer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949440" y="55686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A63"/>
                </a:solidFill>
              </a:rPr>
              <a:t>Sitemap, contact, WhatsApp, newsletter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663" t="11464" r="47455" b="9380"/>
          <a:stretch/>
        </p:blipFill>
        <p:spPr>
          <a:xfrm>
            <a:off x="2107095" y="450574"/>
            <a:ext cx="6361043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747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4681" t="12550" r="47353" b="24053"/>
          <a:stretch/>
        </p:blipFill>
        <p:spPr>
          <a:xfrm>
            <a:off x="2637182" y="251792"/>
            <a:ext cx="6241774" cy="463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96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1463" r="47454" b="23871"/>
          <a:stretch/>
        </p:blipFill>
        <p:spPr>
          <a:xfrm>
            <a:off x="2451986" y="450574"/>
            <a:ext cx="6837787" cy="473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540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359" t="10740" r="47352" b="24414"/>
          <a:stretch/>
        </p:blipFill>
        <p:spPr>
          <a:xfrm>
            <a:off x="2676939" y="543340"/>
            <a:ext cx="6414053" cy="474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181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969" t="12007" r="47556" b="20973"/>
          <a:stretch/>
        </p:blipFill>
        <p:spPr>
          <a:xfrm>
            <a:off x="755373" y="212037"/>
            <a:ext cx="6308035" cy="490330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4377" t="48233" r="48676" b="43252"/>
          <a:stretch/>
        </p:blipFill>
        <p:spPr>
          <a:xfrm>
            <a:off x="854764" y="5393635"/>
            <a:ext cx="6109252" cy="62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936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202</Words>
  <Application>Microsoft Office PowerPoint</Application>
  <PresentationFormat>Widescreen</PresentationFormat>
  <Paragraphs>62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Dean SA</cp:lastModifiedBy>
  <cp:revision>3</cp:revision>
  <dcterms:created xsi:type="dcterms:W3CDTF">2026-07-31T20:54:38Z</dcterms:created>
  <dcterms:modified xsi:type="dcterms:W3CDTF">2026-07-31T21:07:59Z</dcterms:modified>
</cp:coreProperties>
</file>